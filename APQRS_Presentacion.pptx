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57" r:id="rId4"/>
    <p:sldId id="259" r:id="rId5"/>
    <p:sldId id="260" r:id="rId6"/>
    <p:sldId id="271" r:id="rId7"/>
    <p:sldId id="262" r:id="rId8"/>
    <p:sldId id="263" r:id="rId9"/>
    <p:sldId id="272" r:id="rId10"/>
    <p:sldId id="27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embeddedFontLs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Work Sans" pitchFamily="2" charset="0"/>
      <p:regular r:id="rId23"/>
      <p:bold r:id="rId24"/>
      <p:italic r:id="rId25"/>
      <p:boldItalic r:id="rId26"/>
    </p:embeddedFont>
    <p:embeddedFont>
      <p:font typeface="Work Sans SemiBold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23" autoAdjust="0"/>
  </p:normalViewPr>
  <p:slideViewPr>
    <p:cSldViewPr snapToGrid="0">
      <p:cViewPr varScale="1">
        <p:scale>
          <a:sx n="89" d="100"/>
          <a:sy n="89" d="100"/>
        </p:scale>
        <p:origin x="1398" y="84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0e628cec1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3f0e628cec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0e628cec1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CO" sz="1200" b="1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Visualizar </a:t>
            </a: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20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Control automático del stock disponible</a:t>
            </a:r>
            <a:endParaRPr lang="es-CO" sz="1200" b="1" dirty="0">
              <a:solidFill>
                <a:srgbClr val="0030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7" name="Google Shape;247;g3f0e628cec1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3914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0e628cec1_0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3f0e628cec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0e628cec1_0_2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f0e628cec1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0e628cec1_0_4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g3f0e628cec1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0e628cec1_0_5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g3f0e628cec1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0e628cec1_0_5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9" name="Google Shape;449;g3f0e628cec1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0e628cec1_0_7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5" name="Google Shape;455;g3f0e628cec1_0_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0e628cec1_0_7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g3f0e628cec1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0e628cec1_0_7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g3f0e628cec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33.png"/><Relationship Id="rId4" Type="http://schemas.openxmlformats.org/officeDocument/2006/relationships/image" Target="../media/image8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1012157" y="-117990"/>
            <a:ext cx="9041383" cy="336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9960"/>
              </a:lnSpc>
              <a:spcBef>
                <a:spcPts val="1694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3600" b="1" dirty="0" err="1">
                <a:solidFill>
                  <a:srgbClr val="404040"/>
                </a:solidFill>
              </a:rPr>
              <a:t>APQRS</a:t>
            </a:r>
            <a:br>
              <a:rPr lang="es-CO" sz="3600" b="1" dirty="0">
                <a:solidFill>
                  <a:srgbClr val="404040"/>
                </a:solidFill>
              </a:rPr>
            </a:br>
            <a:r>
              <a:rPr lang="es-CO" sz="3600" b="1" dirty="0">
                <a:solidFill>
                  <a:srgbClr val="404040"/>
                </a:solidFill>
              </a:rPr>
              <a:t>Gestión residencial</a:t>
            </a:r>
            <a:r>
              <a:rPr lang="es-CO" sz="3600" b="1" dirty="0" err="1">
                <a:solidFill>
                  <a:srgbClr val="404040"/>
                </a:solidFill>
              </a:rPr>
              <a:t> de PQRS</a:t>
            </a:r>
            <a:r>
              <a:rPr lang="es-CO" sz="3600" b="1" i="0" u="none" strike="noStrike" cap="non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y citas</a:t>
            </a:r>
            <a:endParaRPr sz="54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O" sz="1000" b="1" i="0" u="none" strike="noStrike" cap="non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sz="1000" b="1" i="0" u="none" strike="noStrike" cap="non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82000" y="3789375"/>
            <a:ext cx="45825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200">
                <a:solidFill>
                  <a:schemeClr val="accent5"/>
                </a:solidFill>
              </a:rPr>
              <a:t>Christian Jair Valero Tovar</a:t>
            </a:r>
            <a:r>
              <a:rPr lang="es-CO"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200">
                <a:solidFill>
                  <a:schemeClr val="accent5"/>
                </a:solidFill>
              </a:rPr>
              <a:t>Desarrollador Full Stack</a:t>
            </a:r>
            <a:endParaRPr sz="1200" b="0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>
                <a:solidFill>
                  <a:schemeClr val="accent5"/>
                </a:solidFill>
              </a:rPr>
              <a:t>Frontend · Backend · Base de datos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541015" y="786381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¿Qué es APQRS?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41015" y="1728213"/>
            <a:ext cx="59436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50"/>
              <a:buFont typeface="Calibri"/>
              <a:buNone/>
            </a:pPr>
            <a:r>
              <a:rPr lang="es-CO" sz="14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Aplicación web para la gestión de PQRS (peticiones, quejas, reclamos y sugerencias) y la programación de citas presenciales en conjuntos residenciales, centralizando la comunicación entre residentes y administración.</a:t>
            </a:r>
            <a:endParaRPr sz="14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41015" y="2825493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El sistema permite: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41015" y="3236973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16" descr="icons/windo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358" y="3327316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1043935" y="3209541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Registrar y hacer seguimiento a PQRS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41015" y="3749037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16" descr="icons/filt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358" y="3839380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1043935" y="3721605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Agendar citas presenciales con administración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41015" y="4285485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16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358" y="4375828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/>
          <p:nvPr/>
        </p:nvSpPr>
        <p:spPr>
          <a:xfrm>
            <a:off x="1043935" y="4258053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notificaciones y respuestas en tiempo real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896095" y="1728213"/>
            <a:ext cx="4755000" cy="4617600"/>
          </a:xfrm>
          <a:prstGeom prst="roundRect">
            <a:avLst>
              <a:gd name="adj" fmla="val 1584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7216135" y="1956813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STACK PRINCIPAL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7216135" y="2414013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6" descr="icons/cod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46894" y="2544772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7901935" y="241401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7901935" y="2679189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JSP + HTML, CSS y JavaScript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216135" y="3200396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16" descr="icons/server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46894" y="333115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7901935" y="320039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901935" y="346557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Java Servlets (Jakarta EE)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7216135" y="3986781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16" descr="icons/databas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46894" y="4117540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7901935" y="398678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7901935" y="4251957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7216135" y="4773165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6" descr="icons/clou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46894" y="4903924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7901935" y="477316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7901935" y="503834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Apache Tomcat / GlassFish Server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Agenda de la sustentación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48640" y="1691640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1323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5" descr="icons/bullsey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36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137160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Resumen y objetivos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37160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Qué es APQRS y qué buscamos lograr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012180" y="1691640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17677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5" descr="icons/warni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990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683514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Problema y justificación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83514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Por qué era necesario este proyecto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48640" y="2734056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1323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15" descr="icons/rou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636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137160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Alcance y metodología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37160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Qué incluye el sistema y cómo lo construimos (Scrum)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012180" y="2734056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17677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15" descr="icons/clipboar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990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683514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Requerimientos (IEEE 830)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83514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Funcionalidades esenciales del sistema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48640" y="3776472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1323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15" descr="icons/layer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36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/>
          <p:nvPr/>
        </p:nvSpPr>
        <p:spPr>
          <a:xfrm>
            <a:off x="137160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Arquitectura y stack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137160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Java EE, Servlets/JSP, MySQL y despliegue en servidor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12180" y="3776472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17677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15" descr="icons/window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0990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683514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Interfaz y demo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83514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Recorrido por las pantallas del sistema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48640" y="4818888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13232" y="4983480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15" descr="icons/flask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6369" y="511661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1371600" y="4928616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Pruebas y conclusiones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371600" y="5239512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Cómo validamos la calidad del software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54101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41015" y="1645920"/>
            <a:ext cx="5120700" cy="4480500"/>
          </a:xfrm>
          <a:prstGeom prst="roundRect">
            <a:avLst>
              <a:gd name="adj" fmla="val 1633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861055" y="187452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manual e informal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61055" y="2331720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240779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1290823" y="229514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Muchas administraciones de conjuntos residenciales gestionan las PQRS y solicitudes de los residentes por WhatsApp, papel o de forma verbal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61055" y="2866644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2942722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/>
          <p:nvPr/>
        </p:nvSpPr>
        <p:spPr>
          <a:xfrm>
            <a:off x="1290823" y="2830068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Desorganización de la información y pérdida de datos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861055" y="3401568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3477646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/>
          <p:nvPr/>
        </p:nvSpPr>
        <p:spPr>
          <a:xfrm>
            <a:off x="1290823" y="3364992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Dificultad para hacer seguimiento a cada solicitud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861055" y="3936492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4012570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/>
          <p:nvPr/>
        </p:nvSpPr>
        <p:spPr>
          <a:xfrm>
            <a:off x="1290823" y="3899916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Falta de historial de PQRS y citas atendidas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861055" y="4471416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4547494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/>
          <p:nvPr/>
        </p:nvSpPr>
        <p:spPr>
          <a:xfrm>
            <a:off x="1290823" y="4434840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Ausencia de un canal digital para agendar citas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861055" y="5006340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508241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/>
          <p:nvPr/>
        </p:nvSpPr>
        <p:spPr>
          <a:xfrm>
            <a:off x="1290823" y="496976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Demoras en la respuesta a los residentes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935975" y="1645920"/>
            <a:ext cx="5715000" cy="4480500"/>
          </a:xfrm>
          <a:prstGeom prst="roundRect">
            <a:avLst>
              <a:gd name="adj" fmla="val 1633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6256015" y="1920240"/>
            <a:ext cx="548700" cy="5487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17" descr="icons/lea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8661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/>
          <p:nvPr/>
        </p:nvSpPr>
        <p:spPr>
          <a:xfrm>
            <a:off x="6941815" y="1993392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Problema central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256015" y="2606040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La falta de un canal formal genera pérdida de solicitudes, respuestas tardías y descontento entre los residentes y la administración.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6256015" y="3611880"/>
            <a:ext cx="5120700" cy="2331600"/>
          </a:xfrm>
          <a:prstGeom prst="roundRect">
            <a:avLst>
              <a:gd name="adj" fmla="val 3137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6530335" y="379476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6530335" y="4114800"/>
            <a:ext cx="46176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APQRS centraliza el registro, seguimiento y respuesta de PQRS, además de la programación de citas presenciales, en una sola plataforma web.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¿POR QUÉ ESTE PROYECTO?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APQRS se justifica por la necesidad de modernizar la atención de PQRS y citas en conjuntos residenciales, ofreciendo un canal digital, ágil y con trazabilidad.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48640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2011680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18" descr="icons/cog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9081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685800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Modernizar la gestión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85800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Organizar PQRS, citas y usuarios en un solo sistema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334256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797296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18" descr="icons/chec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4697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/>
          <p:nvPr/>
        </p:nvSpPr>
        <p:spPr>
          <a:xfrm>
            <a:off x="4471416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Reducir errores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471416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Menos fallos por procesos manuales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8119872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9582912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7" name="Google Shape;227;p18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30313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8257032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Atención digital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8257032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Acceso desde cualquier dispositivo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48640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2011680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18" descr="icons/leaf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9081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/>
          <p:nvPr/>
        </p:nvSpPr>
        <p:spPr>
          <a:xfrm>
            <a:off x="685800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Trazabilidad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685800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Registro histórico de cada PQRS y cita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4334256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5797296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18" descr="icons/chart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4697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/>
          <p:nvPr/>
        </p:nvSpPr>
        <p:spPr>
          <a:xfrm>
            <a:off x="4471416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Mejor administración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471416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Mayor control y tiempos de respuesta más cortos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8119872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9582912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18" descr="icons/shiel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0313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/>
          <p:nvPr/>
        </p:nvSpPr>
        <p:spPr>
          <a:xfrm>
            <a:off x="8257032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Confianza del residente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8257032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Información clara y transparente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METAS DEL PROYECTO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48640" y="1645920"/>
            <a:ext cx="10607100" cy="1051500"/>
          </a:xfrm>
          <a:prstGeom prst="roundRect">
            <a:avLst>
              <a:gd name="adj" fmla="val 6957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868680" y="187452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19" descr="icons/bullsey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14" y="2029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/>
          <p:nvPr/>
        </p:nvSpPr>
        <p:spPr>
          <a:xfrm>
            <a:off x="1645920" y="176479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6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645920" y="1970975"/>
            <a:ext cx="92355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s-CO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web que centralice la gestión de PQRS y la programación de citas presenciales en conjuntos residenciales</a:t>
            </a:r>
            <a:r>
              <a:rPr lang="es-CO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con el fin de mejorar la comunicación y los tiempos de respuesta entre residentes y </a:t>
            </a:r>
            <a:r>
              <a:rPr lang="es-CO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administración.</a:t>
            </a:r>
            <a:endParaRPr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548640" y="292608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548640" y="3337560"/>
            <a:ext cx="3401605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2020842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19" descr="icons/clipboar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39714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/>
          <p:nvPr/>
        </p:nvSpPr>
        <p:spPr>
          <a:xfrm>
            <a:off x="640080" y="4114800"/>
            <a:ext cx="3218725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Gestionar PQRS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58368" y="4617720"/>
            <a:ext cx="3182149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n-US" sz="105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Registrar, responder y</a:t>
            </a:r>
            <a:r>
              <a:rPr lang="es-CO" sz="1050" dirty="0">
                <a:latin typeface="Calibri"/>
                <a:ea typeface="Calibri"/>
                <a:cs typeface="Calibri"/>
                <a:sym typeface="Calibri"/>
              </a:rPr>
              <a:t> hacer seguimiento a cada PQRS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4151387" y="3337560"/>
            <a:ext cx="3401605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19"/>
          <p:cNvSpPr/>
          <p:nvPr/>
        </p:nvSpPr>
        <p:spPr>
          <a:xfrm>
            <a:off x="5623589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" name="Google Shape;264;p19" descr="icons/boxe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42461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/>
          <p:nvPr/>
        </p:nvSpPr>
        <p:spPr>
          <a:xfrm>
            <a:off x="4242827" y="4114800"/>
            <a:ext cx="3218725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Agendar citas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4261115" y="4617720"/>
            <a:ext cx="3182149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ES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Programar y controlar citas presenciales</a:t>
            </a:r>
          </a:p>
        </p:txBody>
      </p:sp>
      <p:sp>
        <p:nvSpPr>
          <p:cNvPr id="267" name="Google Shape;267;p19"/>
          <p:cNvSpPr/>
          <p:nvPr/>
        </p:nvSpPr>
        <p:spPr>
          <a:xfrm>
            <a:off x="7754134" y="3337560"/>
            <a:ext cx="3401605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19"/>
          <p:cNvSpPr/>
          <p:nvPr/>
        </p:nvSpPr>
        <p:spPr>
          <a:xfrm>
            <a:off x="9226336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19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45208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9"/>
          <p:cNvSpPr/>
          <p:nvPr/>
        </p:nvSpPr>
        <p:spPr>
          <a:xfrm>
            <a:off x="7845574" y="4114800"/>
            <a:ext cx="3218725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Administrar el sistema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7863862" y="4617720"/>
            <a:ext cx="3182149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ES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Gestionar residentes, roles y apartamentos, y notificar el estado de cada solicitud</a:t>
            </a:r>
          </a:p>
        </p:txBody>
      </p:sp>
    </p:spTree>
    <p:extLst>
      <p:ext uri="{BB962C8B-B14F-4D97-AF65-F5344CB8AC3E}">
        <p14:creationId xmlns:p14="http://schemas.microsoft.com/office/powerpoint/2010/main" val="314586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DELIMITACIÓN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548640" y="1645920"/>
            <a:ext cx="338340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86868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" name="Google Shape;290;p20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32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/>
          <p:nvPr/>
        </p:nvSpPr>
        <p:spPr>
          <a:xfrm>
            <a:off x="1554480" y="1993392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Residente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86868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86868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Registrar nuevas PQRS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86868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el estado de sus PQRS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86868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Agendar citas presenciales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86868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y cancelar sus citas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160520" y="1645920"/>
            <a:ext cx="338340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448056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20" descr="icons/cog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2320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5166360" y="1993392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448056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Responder y hacer seguimiento a PQRS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448056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Gestionar la agenda de citas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448056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Gestionar usuarios y roles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448056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Configurar disponibilidad de horarios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448056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Notificaciones en tiempo real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7772400" y="1645920"/>
            <a:ext cx="3931800" cy="4480500"/>
          </a:xfrm>
          <a:prstGeom prst="roundRect">
            <a:avLst>
              <a:gd name="adj" fmla="val 186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8092440" y="1920240"/>
            <a:ext cx="548700" cy="5487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8" name="Google Shape;308;p20" descr="icons/clou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3508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/>
          <p:nvPr/>
        </p:nvSpPr>
        <p:spPr>
          <a:xfrm>
            <a:off x="8778240" y="1993392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tecnológico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8092440" y="2606040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Aplicación web con JSP, HTML, CSS y JS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8092440" y="3227832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Arquitectura cliente–servidor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8092440" y="3849624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Base de datos relacional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8092440" y="4471416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Despliegue en servidor de aplicaciones Java (GlassFish/Tomcat)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8092440" y="5093208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Enfoque en un solo conjunto residencial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CÓMO TRABAJAMOS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Metodología ágil: Scrum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350"/>
              <a:buFont typeface="Calibri"/>
              <a:buNone/>
            </a:pPr>
            <a:r>
              <a:rPr lang="es-CO" sz="13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Proyecto desarrollado de forma individual bajo un ciclo de vida iterativo e incremental (Scrum adaptado), permitiendo incorporar mejoras y nuevas funcionalidades de forma progresiva a lo largo de 5 meses.</a:t>
            </a: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548640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713232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4" name="Google Shape;324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878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/>
          <p:nvPr/>
        </p:nvSpPr>
        <p:spPr>
          <a:xfrm>
            <a:off x="1417320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Christian Valero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1417320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Desarrollador Frontend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713232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lang="es-CO" sz="98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Diseña las vistas JSP y la experiencia de usuario</a:t>
            </a:r>
            <a:endParaRPr sz="98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4133088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4297680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0326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/>
          <p:nvPr/>
        </p:nvSpPr>
        <p:spPr>
          <a:xfrm>
            <a:off x="5001768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Christian Valero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001768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Desarrollador Backend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4297680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lang="es-CO" sz="98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Implementa servlets, DAOs y la lógica de negocio</a:t>
            </a:r>
            <a:endParaRPr sz="98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7717536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7882128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6" name="Google Shape;336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774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/>
          <p:nvPr/>
        </p:nvSpPr>
        <p:spPr>
          <a:xfrm>
            <a:off x="8586216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Christian Valero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8586216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Encargado de Base de Datos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7882128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lang="es-CO" sz="98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Diseña y administra el modelo de datos en MySQL</a:t>
            </a:r>
            <a:endParaRPr sz="98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48640" y="39776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Fases del proyecto (5 meses)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54864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5486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216408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234696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234696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396240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414528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414528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576072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594360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594360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755904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774192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774192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935736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954024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95402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548640" y="5349240"/>
            <a:ext cx="10607100" cy="777300"/>
          </a:xfrm>
          <a:prstGeom prst="roundRect">
            <a:avLst>
              <a:gd name="adj" fmla="val 9412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822960" y="5349240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Control de versiones:  </a:t>
            </a: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Git + GitHub, con control de versiones del código fuente y despliegue en un servidor de aplicaciones Java (GlassFish).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"/>
          <p:cNvSpPr/>
          <p:nvPr/>
        </p:nvSpPr>
        <p:spPr>
          <a:xfrm>
            <a:off x="88253" y="74266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Cronograma del proyecto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622300" y="820000"/>
            <a:ext cx="107898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Diagrama de Gantt estimado para el desarrollo de APQRS por un solo desarrollador: 5 meses (20 semanas), distribuidos por fase.</a:t>
            </a:r>
          </a:p>
        </p:txBody>
      </p:sp>
      <p:pic>
        <p:nvPicPr>
          <p:cNvPr id="463" name="Google Shape;463;p25"/>
          <p:cNvPicPr preferRelativeResize="0"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846000" y="1500000"/>
            <a:ext cx="10500000" cy="49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6"/>
          <p:cNvSpPr/>
          <p:nvPr/>
        </p:nvSpPr>
        <p:spPr>
          <a:xfrm>
            <a:off x="88253" y="74266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Presupuesto estimado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701100" y="820000"/>
            <a:ext cx="107898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Costo estimado de desarrollo por un solo desarrollador durante 5 meses (recurso humano, infraestructura e imprevistos).</a:t>
            </a:r>
          </a:p>
        </p:txBody>
      </p:sp>
      <p:graphicFrame>
        <p:nvGraphicFramePr>
          <p:cNvPr id="473" name="Budget Table"/>
          <p:cNvGraphicFramePr>
            <a:graphicFrameLocks noGrp="1"/>
          </p:cNvGraphicFramePr>
          <p:nvPr/>
        </p:nvGraphicFramePr>
        <p:xfrm>
          <a:off x="701100" y="1080000"/>
          <a:ext cx="10789800" cy="50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1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s-CO" sz="1300" b="1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Fase / Rubro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1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Duración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1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Costo estimado (COP)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00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Requisitos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 semanas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$1.250.000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Diseño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 semanas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$1.875.000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Implementación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9 semanas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$5.625.000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Integración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 semanas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$1.875.000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Pruebas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 semanas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$1.250.000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Despliegue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 semana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$625.000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Subtotal recurso humano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E7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20 semanas (5 meses)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E7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$12.500.000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E7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Infraestructura y hosting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—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$1.800.000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00304D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Imprevistos (10%)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—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0">
                          <a:solidFill>
                            <a:srgbClr val="4D4D4C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$1.430.000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2000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FDC3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TOTAL ESTIMADO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5 meses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$15.730.000</a:t>
                      </a:r>
                    </a:p>
                  </a:txBody>
                  <a:tcPr marT="36000" marB="36000" anchor="ctr">
                    <a:lnL w="6350">
                      <a:solidFill>
                        <a:srgbClr val="E3E8EB"/>
                      </a:solidFill>
                    </a:lnL>
                    <a:lnR w="6350">
                      <a:solidFill>
                        <a:srgbClr val="E3E8EB"/>
                      </a:solidFill>
                    </a:lnR>
                    <a:lnT w="6350">
                      <a:solidFill>
                        <a:srgbClr val="E3E8EB"/>
                      </a:solidFill>
                    </a:lnT>
                    <a:lnB w="6350">
                      <a:solidFill>
                        <a:srgbClr val="E3E8EB"/>
                      </a:solidFill>
                    </a:lnB>
                    <a:solidFill>
                      <a:srgbClr val="00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/>
          <p:nvPr/>
        </p:nvSpPr>
        <p:spPr>
          <a:xfrm>
            <a:off x="550165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ESPECIFICACIÓN DE REQUISITOS · IEEE 830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55016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Funcionalidades esenciales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550165" y="1572768"/>
            <a:ext cx="106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300"/>
              <a:buFont typeface="Calibri"/>
              <a:buNone/>
            </a:pPr>
            <a:r>
              <a:rPr lang="es-CO" sz="1300" b="0" i="1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Los requisitos se documentaron bajo la norma IEEE 830, garantizando que cada funcionalidad fuera clara, completa y verificable.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5016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71475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9" name="Google Shape;369;p22" descr="icons/search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62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/>
          <p:nvPr/>
        </p:nvSpPr>
        <p:spPr>
          <a:xfrm>
            <a:off x="128168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01–03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71475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Autenticación y registro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71475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Inicio de sesión, registro de residentes y recuperación de contraseña.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432968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449427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22" descr="icons/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314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/>
          <p:nvPr/>
        </p:nvSpPr>
        <p:spPr>
          <a:xfrm>
            <a:off x="506120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04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449427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de PQRS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449427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Registrar, consultar, responder y hacer seguimiento a peticiones, quejas, reclamos y sugerencias.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810920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827379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" name="Google Shape;381;p22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9266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/>
          <p:nvPr/>
        </p:nvSpPr>
        <p:spPr>
          <a:xfrm>
            <a:off x="884072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05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827379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de citas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827379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Agendar, consultar, cancelar y confirmar citas presenciales con administración.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5016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71475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7" name="Google Shape;387;p22" descr="icons/tags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362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2"/>
          <p:cNvSpPr/>
          <p:nvPr/>
        </p:nvSpPr>
        <p:spPr>
          <a:xfrm>
            <a:off x="128168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06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71475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de usuarios y unidades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71475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El administrador gestiona residentes, roles, bloques y apartamentos.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432968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449427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3" name="Google Shape;393;p22" descr="icons/cog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14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2"/>
          <p:cNvSpPr/>
          <p:nvPr/>
        </p:nvSpPr>
        <p:spPr>
          <a:xfrm>
            <a:off x="506120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07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449427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Notificaciones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449427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Envío y consulta de notificaciones sobre PQRS y citas.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10920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/>
          <p:nvPr/>
        </p:nvSpPr>
        <p:spPr>
          <a:xfrm>
            <a:off x="827379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9" name="Google Shape;399;p22" descr="icons/bell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266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/>
          <p:nvPr/>
        </p:nvSpPr>
        <p:spPr>
          <a:xfrm>
            <a:off x="884072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No funcional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827379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Calidad del sistema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827379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Interfaz clara y responsiva, sin licencias adicionales, desplegable en un servidor Java estándar.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Arquitectura y stack tecnológico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548640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1975104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23" descr="icons/cod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3412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3"/>
          <p:cNvSpPr/>
          <p:nvPr/>
        </p:nvSpPr>
        <p:spPr>
          <a:xfrm>
            <a:off x="685800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685800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JSP + HTML, CSS y JavaScript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731520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Vistas renderizadas en servidor, consumidas desde el navegador del cliente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4133088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5559552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6" name="Google Shape;416;p23" descr="icons/serv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7860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3"/>
          <p:cNvSpPr/>
          <p:nvPr/>
        </p:nvSpPr>
        <p:spPr>
          <a:xfrm>
            <a:off x="4270248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4270248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 Servlets (Jakarta EE)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4315968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Arquitectura en capas: Servlet, Modelo, Controlador (DAO) y Vista (JSP)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7717536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9144000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23" descr="icons/databas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2308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3"/>
          <p:cNvSpPr/>
          <p:nvPr/>
        </p:nvSpPr>
        <p:spPr>
          <a:xfrm>
            <a:off x="7854696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7854696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7900416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Acceso mediante JDBC con pool de conexiones propio (Controlador.Conexion)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548640" y="416052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Componentes integrados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54864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156019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9" name="Google Shape;429;p23" descr="icons/clou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7906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3"/>
          <p:cNvSpPr/>
          <p:nvPr/>
        </p:nvSpPr>
        <p:spPr>
          <a:xfrm>
            <a:off x="64008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GlassFish Server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64008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Servidor de aplicaciones Jakarta EE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325755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426910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4" name="Google Shape;434;p23" descr="icons/car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8797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3"/>
          <p:cNvSpPr/>
          <p:nvPr/>
        </p:nvSpPr>
        <p:spPr>
          <a:xfrm>
            <a:off x="334899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MySQL Connector/J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334899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Driver JDBC para la conexión a la base de datos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596646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697801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9" name="Google Shape;439;p23" descr="icons/envelop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9688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3"/>
          <p:cNvSpPr/>
          <p:nvPr/>
        </p:nvSpPr>
        <p:spPr>
          <a:xfrm>
            <a:off x="605790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Apache Ant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605790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Construcción y despliegue del proyecto (build.xml)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867537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968692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4" name="Google Shape;444;p23" descr="icons/sync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0579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/>
          <p:nvPr/>
        </p:nvSpPr>
        <p:spPr>
          <a:xfrm>
            <a:off x="876681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NetBeans IDE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876681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Entorno de desarrollo del proyecto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"/>
          <p:cNvSpPr/>
          <p:nvPr/>
        </p:nvSpPr>
        <p:spPr>
          <a:xfrm>
            <a:off x="88253" y="74266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Modelo Logico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52" name="Google Shape;452;p24"/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1620750" y="742350"/>
            <a:ext cx="8168349" cy="6115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/>
          <p:cNvSpPr/>
          <p:nvPr/>
        </p:nvSpPr>
        <p:spPr>
          <a:xfrm>
            <a:off x="215740" y="167266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Casos de Uso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58" name="Google Shape;45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5425" y="1037850"/>
            <a:ext cx="6455674" cy="58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Pruebas de software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548640" y="1645920"/>
            <a:ext cx="5120700" cy="4480500"/>
          </a:xfrm>
          <a:prstGeom prst="roundRect">
            <a:avLst>
              <a:gd name="adj" fmla="val 16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868680" y="192024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26" descr="icons/vi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321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6"/>
          <p:cNvSpPr/>
          <p:nvPr/>
        </p:nvSpPr>
        <p:spPr>
          <a:xfrm>
            <a:off x="1600200" y="201168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700"/>
              <a:buFont typeface="Calibri"/>
              <a:buNone/>
            </a:pPr>
            <a:r>
              <a:rPr lang="es-CO" sz="17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Caja blanca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868680" y="2514600"/>
            <a:ext cx="4572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00"/>
              <a:buFont typeface="Calibri"/>
              <a:buNone/>
            </a:pP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Se valida la lógica interna del código del backend (servlets y DAO), verificando consultas y manejo de conexiones.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868680" y="31089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PU-1  Registro e inicio de sesión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868680" y="3547872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PU-2  Registro de PQRS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868680" y="3986784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PU-3  Gestión de citas (CRUD)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868680" y="4425696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PU-4  Gestión de usuarios y apartamentos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868680" y="486460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PU-5  Envío de notificaciones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5943600" y="1645920"/>
            <a:ext cx="5696700" cy="4480500"/>
          </a:xfrm>
          <a:prstGeom prst="roundRect">
            <a:avLst>
              <a:gd name="adj" fmla="val 1633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6263640" y="1920240"/>
            <a:ext cx="594300" cy="5943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6" name="Google Shape;476;p26" descr="icons/chec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817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6"/>
          <p:cNvSpPr/>
          <p:nvPr/>
        </p:nvSpPr>
        <p:spPr>
          <a:xfrm>
            <a:off x="6995160" y="201168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s-CO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Caja negra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6263640" y="2514600"/>
            <a:ext cx="5120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200"/>
              <a:buFont typeface="Calibri"/>
              <a:buNone/>
            </a:pPr>
            <a:r>
              <a:rPr lang="es-CO" sz="120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Se navega el sistema como lo haría un usuario real, verificando que cada requisito funcional (REQ) se cumpla sin mirar el código.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6263640" y="338328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6263640" y="3822192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 y consulta de PQRS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6263640" y="4261104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Agendamiento y cancelación de citas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6263640" y="5138928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Panel administrativo y gestión de usuarios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Conclusiones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6096000" y="3383280"/>
            <a:ext cx="514350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9" name="Google Shape;489;p27"/>
          <p:cNvSpPr/>
          <p:nvPr/>
        </p:nvSpPr>
        <p:spPr>
          <a:xfrm>
            <a:off x="627888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27" descr="icons/che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41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7"/>
          <p:cNvSpPr/>
          <p:nvPr/>
        </p:nvSpPr>
        <p:spPr>
          <a:xfrm>
            <a:off x="705612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de PQRS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705612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B6670"/>
              </a:buClr>
              <a:buSzPts val="1100"/>
            </a:pPr>
            <a:r>
              <a:rPr lang="es-ES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El sistema permite registrar, responder y hacer seguimiento a cada PQRS de forma organizada.</a:t>
            </a:r>
            <a:endParaRPr lang="es-ES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548640" y="1698916"/>
            <a:ext cx="1069086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731520" y="2110396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27" descr="icons/lea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6054" y="226493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/>
          <p:nvPr/>
        </p:nvSpPr>
        <p:spPr>
          <a:xfrm>
            <a:off x="1508760" y="1863508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Creación de aplicación web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1508760" y="2201836"/>
            <a:ext cx="959346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 crea exitosamente una aplicación web que centraliza la gestión de PQRS y citas, reduciendo el impacto de la gestión manual </a:t>
            </a:r>
            <a:r>
              <a:rPr lang="es-CO" b="0" i="0" u="none" strike="noStrike" cap="none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en conjuntos</a:t>
            </a: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b="0" i="0" u="none" strike="noStrike" cap="none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residenciales.</a:t>
            </a:r>
            <a:endParaRPr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48640" y="3383280"/>
            <a:ext cx="514350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73152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0" name="Google Shape;500;p27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605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7"/>
          <p:cNvSpPr/>
          <p:nvPr/>
        </p:nvSpPr>
        <p:spPr>
          <a:xfrm>
            <a:off x="150876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Experiencia de usuario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150876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Interfaz clara y sencilla para residentes y administración, validada durante las pruebas del sistema.</a:t>
            </a:r>
            <a:endParaRPr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548640" y="5257800"/>
            <a:ext cx="10607100" cy="9144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822960" y="5257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Trabajo futuro:  </a:t>
            </a:r>
            <a:r>
              <a:rPr lang="es-CO" sz="12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app móvil para residentes, reportes estadísticos y envío de notificaciones por correo electrónico.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1277</Words>
  <Application>Microsoft Office PowerPoint</Application>
  <PresentationFormat>Panorámica</PresentationFormat>
  <Paragraphs>221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Work Sans</vt:lpstr>
      <vt:lpstr>Cambria</vt:lpstr>
      <vt:lpstr>Work Sans SemiBold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24A_9212109628</cp:lastModifiedBy>
  <cp:revision>8</cp:revision>
  <dcterms:modified xsi:type="dcterms:W3CDTF">2026-09-28T12:57:06Z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2026-09-28T12:56:34Z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882840d9-f46c-4631-8ab5-ae2f7d7dda12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